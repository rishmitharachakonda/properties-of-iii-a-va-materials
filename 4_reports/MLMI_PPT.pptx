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28">
          <p15:clr>
            <a:srgbClr val="A4A3A4"/>
          </p15:clr>
        </p15:guide>
        <p15:guide id="2" pos="3409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JLufP+j5eUP5UmOtkfGUqy3nC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2C2570-8CCF-4C62-96BC-EA9885BF2789}">
  <a:tblStyle styleId="{7E2C2570-8CCF-4C62-96BC-EA9885BF278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1A7992D-D234-410E-9815-D055F7D68F2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5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5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8" orient="horz"/>
        <p:guide pos="340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Why you studying this materials</a:t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9d8395831_2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9d8395831_2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1️⃣ Gradient Boosting Update Rule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Shows how XGBoost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adds trees iteratively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to improve predictions.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2️⃣ Objective Function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Explains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prediction + regularization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in one formula.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3️⃣ Regularization Term (for trees)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Prevents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a key strength of XGBoost.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47e1045d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a47e1045d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a47e1045d4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Therefore, we find that AENET is the easiest to train at 300 epochs, compared to the other MLIPs considered in this work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that one of the key hyperparameters that influences (training) errors, and computational time in AENET is the number of epochs used during training. </a:t>
            </a:r>
            <a:endParaRPr/>
          </a:p>
        </p:txBody>
      </p:sp>
      <p:sp>
        <p:nvSpPr>
          <p:cNvPr id="223" name="Google Shape;22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1115518" y="64604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164892" y="6460403"/>
            <a:ext cx="6208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22"/>
          <p:cNvCxnSpPr/>
          <p:nvPr/>
        </p:nvCxnSpPr>
        <p:spPr>
          <a:xfrm>
            <a:off x="0" y="705170"/>
            <a:ext cx="12192000" cy="0"/>
          </a:xfrm>
          <a:prstGeom prst="straightConnector1">
            <a:avLst/>
          </a:prstGeom>
          <a:noFill/>
          <a:ln cap="flat" cmpd="sng" w="76200">
            <a:solidFill>
              <a:srgbClr val="94165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" name="Google Shape;28;p22"/>
          <p:cNvCxnSpPr/>
          <p:nvPr/>
        </p:nvCxnSpPr>
        <p:spPr>
          <a:xfrm>
            <a:off x="0" y="6382252"/>
            <a:ext cx="12147030" cy="0"/>
          </a:xfrm>
          <a:prstGeom prst="straightConnector1">
            <a:avLst/>
          </a:prstGeom>
          <a:noFill/>
          <a:ln cap="flat" cmpd="sng" w="19050">
            <a:solidFill>
              <a:srgbClr val="94165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/>
          <p:nvPr/>
        </p:nvSpPr>
        <p:spPr>
          <a:xfrm>
            <a:off x="11710866" y="6388100"/>
            <a:ext cx="422030" cy="417634"/>
          </a:xfrm>
          <a:prstGeom prst="ellipse">
            <a:avLst/>
          </a:prstGeom>
          <a:solidFill>
            <a:srgbClr val="69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11684000" y="6407150"/>
            <a:ext cx="48064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5"/>
          <p:cNvSpPr/>
          <p:nvPr/>
        </p:nvSpPr>
        <p:spPr>
          <a:xfrm>
            <a:off x="11668123" y="6405562"/>
            <a:ext cx="371475" cy="365125"/>
          </a:xfrm>
          <a:prstGeom prst="ellipse">
            <a:avLst/>
          </a:prstGeom>
          <a:solidFill>
            <a:srgbClr val="69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11515724" y="6405562"/>
            <a:ext cx="676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17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2000" cy="2110800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Title: Prediction Of Bandgap, Formation Energy and Bulk modulus of IIIA-VA group materials using ML model(XGBoost)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itw brand logo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6275" y="4799652"/>
            <a:ext cx="667702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3285575" y="2985653"/>
            <a:ext cx="525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Sunitha Pavani  22CSB0B11</a:t>
            </a:r>
            <a:endParaRPr b="1" sz="2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           Rishmitha.R  22CSB0C15</a:t>
            </a:r>
            <a:endParaRPr b="1" sz="2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983898" y="5983141"/>
            <a:ext cx="78584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rgbClr val="691450"/>
                </a:solidFill>
                <a:latin typeface="Calibri"/>
                <a:ea typeface="Calibri"/>
                <a:cs typeface="Calibri"/>
                <a:sym typeface="Calibri"/>
              </a:rPr>
              <a:t>Machine Learning for materials informatics  (MLMI)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471100" y="1299074"/>
            <a:ext cx="9881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GaAs, InP, AlN, GaN, InSb, AlP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300277" y="1148325"/>
            <a:ext cx="110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III–V semiconductors are compounds formed by combining elements from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1"/>
          <p:cNvCxnSpPr/>
          <p:nvPr/>
        </p:nvCxnSpPr>
        <p:spPr>
          <a:xfrm>
            <a:off x="-11077" y="6409475"/>
            <a:ext cx="12203077" cy="0"/>
          </a:xfrm>
          <a:prstGeom prst="straightConnector1">
            <a:avLst/>
          </a:prstGeom>
          <a:noFill/>
          <a:ln cap="flat" cmpd="sng" w="38100">
            <a:solidFill>
              <a:srgbClr val="6914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p1"/>
          <p:cNvSpPr txBox="1"/>
          <p:nvPr/>
        </p:nvSpPr>
        <p:spPr>
          <a:xfrm>
            <a:off x="0" y="258600"/>
            <a:ext cx="935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IIIA-VA Semiconductor Materials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300275" y="2421500"/>
            <a:ext cx="96129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are covalent crystals with partial ionic character.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crystal structures – most crystallize in zinc-blende or wurtzite lattices, enabling consistent property comparison.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are III–V semiconductors – exhibit direct or indirect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band gaps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10" name="Google Shape;110;p1"/>
          <p:cNvSpPr txBox="1"/>
          <p:nvPr>
            <p:ph idx="12" type="sldNum"/>
          </p:nvPr>
        </p:nvSpPr>
        <p:spPr>
          <a:xfrm>
            <a:off x="164892" y="6460403"/>
            <a:ext cx="62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chemeClr val="dk1"/>
                </a:solidFill>
              </a:rPr>
              <a:t>‹#›</a:t>
            </a:fld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3">
            <a:alphaModFix/>
          </a:blip>
          <a:srcRect b="29938" l="66358" r="16467" t="9834"/>
          <a:stretch/>
        </p:blipFill>
        <p:spPr>
          <a:xfrm>
            <a:off x="9515350" y="2223300"/>
            <a:ext cx="1687975" cy="37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"/>
          <p:cNvSpPr txBox="1"/>
          <p:nvPr/>
        </p:nvSpPr>
        <p:spPr>
          <a:xfrm>
            <a:off x="9446850" y="1707950"/>
            <a:ext cx="260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IIIA	   VA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/>
        </p:nvSpPr>
        <p:spPr>
          <a:xfrm>
            <a:off x="11828460" y="6447367"/>
            <a:ext cx="3365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69145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800">
              <a:solidFill>
                <a:srgbClr val="6914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3"/>
          <p:cNvCxnSpPr/>
          <p:nvPr/>
        </p:nvCxnSpPr>
        <p:spPr>
          <a:xfrm>
            <a:off x="-11077" y="6409475"/>
            <a:ext cx="12203077" cy="0"/>
          </a:xfrm>
          <a:prstGeom prst="straightConnector1">
            <a:avLst/>
          </a:prstGeom>
          <a:noFill/>
          <a:ln cap="flat" cmpd="sng" w="38100">
            <a:solidFill>
              <a:srgbClr val="6914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3"/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89900" y="233250"/>
            <a:ext cx="65319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Applications Of IIIA-VA Materials</a:t>
            </a:r>
            <a:endParaRPr b="1" sz="3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226450" y="1276750"/>
            <a:ext cx="11186100" cy="3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Light-Emitting Diodes (LEDs)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Laser Diodes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High-Speed &amp; RF Electronics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 Cells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Infrared Detectors &amp; Sensors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2375" y="3611113"/>
            <a:ext cx="1928350" cy="15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4">
            <a:alphaModFix/>
          </a:blip>
          <a:srcRect b="-24839" l="-111960" r="111960" t="24840"/>
          <a:stretch/>
        </p:blipFill>
        <p:spPr>
          <a:xfrm>
            <a:off x="5835975" y="2376425"/>
            <a:ext cx="2654746" cy="14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8313" y="3536950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0938" y="3702788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83850" y="383838"/>
            <a:ext cx="3036325" cy="184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8">
            <a:alphaModFix/>
          </a:blip>
          <a:srcRect b="16310" l="5406" r="17254" t="0"/>
          <a:stretch/>
        </p:blipFill>
        <p:spPr>
          <a:xfrm>
            <a:off x="6883850" y="3611125"/>
            <a:ext cx="155292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32375" y="3561650"/>
            <a:ext cx="2255874" cy="184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 txBox="1"/>
          <p:nvPr>
            <p:ph idx="12" type="sldNum"/>
          </p:nvPr>
        </p:nvSpPr>
        <p:spPr>
          <a:xfrm>
            <a:off x="164892" y="6460403"/>
            <a:ext cx="62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fld id="{00000000-1234-1234-1234-123412341234}" type="slidenum">
              <a:rPr b="1" lang="en-US" sz="18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0" y="233250"/>
            <a:ext cx="12192000" cy="62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Properties to Predict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36" name="Google Shape;13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3970914" y="2717650"/>
            <a:ext cx="305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7491349" y="6458736"/>
            <a:ext cx="37698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Atomic mass - Wikipedia" id="139" name="Google Shape;139;p4"/>
          <p:cNvSpPr/>
          <p:nvPr/>
        </p:nvSpPr>
        <p:spPr>
          <a:xfrm>
            <a:off x="5746831" y="24895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-11077" y="6409475"/>
            <a:ext cx="12203077" cy="0"/>
          </a:xfrm>
          <a:prstGeom prst="straightConnector1">
            <a:avLst/>
          </a:prstGeom>
          <a:noFill/>
          <a:ln cap="flat" cmpd="sng" w="38100">
            <a:solidFill>
              <a:srgbClr val="6914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4"/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1046825" y="1093225"/>
            <a:ext cx="3291300" cy="4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Bandgap:</a:t>
            </a:r>
            <a:endParaRPr b="1" sz="2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 difference between the valence band and conduction band.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Controls optical absorption and electronic conductivity.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976025" y="1093225"/>
            <a:ext cx="3291300" cy="46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Bulk Modulus:</a:t>
            </a:r>
            <a:endParaRPr b="1" sz="2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bulk modulus is a measure of a material’s resistance to uniform compression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to mechanical stiffness and bonding strength.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687775" y="1035225"/>
            <a:ext cx="3291300" cy="48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Formation Energy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 released or absorbed when a compound is formed from its constituent elements.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thermodynamic stability of the material.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45" name="Google Shape;14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600" y="4572950"/>
            <a:ext cx="2750525" cy="11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4"/>
          <p:cNvPicPr preferRelativeResize="0"/>
          <p:nvPr/>
        </p:nvPicPr>
        <p:blipFill rotWithShape="1">
          <a:blip r:embed="rId4">
            <a:alphaModFix/>
          </a:blip>
          <a:srcRect b="10285" l="2525" r="3919" t="10293"/>
          <a:stretch/>
        </p:blipFill>
        <p:spPr>
          <a:xfrm>
            <a:off x="5411800" y="4326475"/>
            <a:ext cx="2614925" cy="121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 txBox="1"/>
          <p:nvPr>
            <p:ph idx="12" type="sldNum"/>
          </p:nvPr>
        </p:nvSpPr>
        <p:spPr>
          <a:xfrm>
            <a:off x="164892" y="6460403"/>
            <a:ext cx="62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fld id="{00000000-1234-1234-1234-123412341234}" type="slidenum">
              <a:rPr b="1" lang="en-US" sz="1800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148" name="Google Shape;148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00400" y="4167000"/>
            <a:ext cx="2458149" cy="18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/>
        </p:nvSpPr>
        <p:spPr>
          <a:xfrm>
            <a:off x="11828460" y="6447367"/>
            <a:ext cx="3365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69145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800">
              <a:solidFill>
                <a:srgbClr val="6914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>
            <a:off x="-11077" y="6409475"/>
            <a:ext cx="12203077" cy="0"/>
          </a:xfrm>
          <a:prstGeom prst="straightConnector1">
            <a:avLst/>
          </a:prstGeom>
          <a:noFill/>
          <a:ln cap="flat" cmpd="sng" w="38100">
            <a:solidFill>
              <a:srgbClr val="6914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p5"/>
          <p:cNvSpPr txBox="1"/>
          <p:nvPr/>
        </p:nvSpPr>
        <p:spPr>
          <a:xfrm>
            <a:off x="5546633" y="3716026"/>
            <a:ext cx="2946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1800">
              <a:solidFill>
                <a:srgbClr val="6914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130443" y="6447367"/>
            <a:ext cx="563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0" y="1"/>
            <a:ext cx="12192000" cy="19497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162400" y="310275"/>
            <a:ext cx="84819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Model Overview – XGBoost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162400" y="1441200"/>
            <a:ext cx="11889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 is a machine learning algorithm based on Gradient Boosted Decision Trees (GBDT).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1538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Working Principle</a:t>
            </a:r>
            <a:r>
              <a:rPr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 with an initial prediction (e.g., mean of data).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Builds a new decision tree to predict those residuals.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the new tree’s prediction (scaled by learning rate) to improve results.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Repeats this process until the error is minimized.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60" name="Google Shape;160;p5"/>
          <p:cNvSpPr txBox="1"/>
          <p:nvPr>
            <p:ph idx="12" type="sldNum"/>
          </p:nvPr>
        </p:nvSpPr>
        <p:spPr>
          <a:xfrm>
            <a:off x="164892" y="6460403"/>
            <a:ext cx="62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9d8395831_2_24"/>
          <p:cNvSpPr txBox="1"/>
          <p:nvPr/>
        </p:nvSpPr>
        <p:spPr>
          <a:xfrm>
            <a:off x="11828460" y="6447367"/>
            <a:ext cx="33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69145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800">
              <a:solidFill>
                <a:srgbClr val="6914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g399d8395831_2_24"/>
          <p:cNvCxnSpPr/>
          <p:nvPr/>
        </p:nvCxnSpPr>
        <p:spPr>
          <a:xfrm>
            <a:off x="-11077" y="6409475"/>
            <a:ext cx="12203100" cy="0"/>
          </a:xfrm>
          <a:prstGeom prst="straightConnector1">
            <a:avLst/>
          </a:prstGeom>
          <a:noFill/>
          <a:ln cap="flat" cmpd="sng" w="38100">
            <a:solidFill>
              <a:srgbClr val="6914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g399d8395831_2_24"/>
          <p:cNvSpPr txBox="1"/>
          <p:nvPr/>
        </p:nvSpPr>
        <p:spPr>
          <a:xfrm>
            <a:off x="5546633" y="3716026"/>
            <a:ext cx="294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1800">
              <a:solidFill>
                <a:srgbClr val="6914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99d8395831_2_24"/>
          <p:cNvSpPr txBox="1"/>
          <p:nvPr/>
        </p:nvSpPr>
        <p:spPr>
          <a:xfrm>
            <a:off x="130443" y="6447367"/>
            <a:ext cx="563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99d8395831_2_24"/>
          <p:cNvSpPr/>
          <p:nvPr/>
        </p:nvSpPr>
        <p:spPr>
          <a:xfrm>
            <a:off x="0" y="1"/>
            <a:ext cx="12192000" cy="195000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99d8395831_2_24"/>
          <p:cNvSpPr txBox="1"/>
          <p:nvPr/>
        </p:nvSpPr>
        <p:spPr>
          <a:xfrm>
            <a:off x="162400" y="310275"/>
            <a:ext cx="84819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Model Overview – XGBoost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99d8395831_2_24"/>
          <p:cNvSpPr txBox="1"/>
          <p:nvPr/>
        </p:nvSpPr>
        <p:spPr>
          <a:xfrm>
            <a:off x="162400" y="1441200"/>
            <a:ext cx="11889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2" name="Google Shape;172;g399d8395831_2_24"/>
          <p:cNvSpPr txBox="1"/>
          <p:nvPr>
            <p:ph idx="12" type="sldNum"/>
          </p:nvPr>
        </p:nvSpPr>
        <p:spPr>
          <a:xfrm>
            <a:off x="164892" y="6460403"/>
            <a:ext cx="62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173" name="Google Shape;173;g399d8395831_2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875" y="1441200"/>
            <a:ext cx="8096250" cy="46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idx="12" type="sldNum"/>
          </p:nvPr>
        </p:nvSpPr>
        <p:spPr>
          <a:xfrm>
            <a:off x="164892" y="6460403"/>
            <a:ext cx="6208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164892" y="889713"/>
            <a:ext cx="10742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1"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XGBoost (Extreme Gradient Boosting):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high-performance ensemble learning method based on gradient-boosted decision trees.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74342" y="195799"/>
            <a:ext cx="60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XGBoost Regression Model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164904" y="4243091"/>
            <a:ext cx="107427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Why XGBoost?</a:t>
            </a:r>
            <a:endParaRPr b="1" sz="2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•"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Learns complex nonlinear relationships between structure &amp; properties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•"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Handles small scientific datasets effectively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•"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Built-in regularization to reduce overfitting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•"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Supports feature importance for model interpretability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•"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Highly optimized for speed, parallelism, and scalability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292600" y="1935225"/>
            <a:ext cx="5803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Gradient Boosting Update Rule: 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ŷᵢ^(t) = ŷᵢ^(t−1) + η * fₜ(xᵢ)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Objective Function: 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ℒ^(t) = Σ l(yᵢ, ŷᵢ^(t−1) + fₜ(xᵢ)) + Ω(fₜ)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Regularization Term (for trees): 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Ω(f) = γ * T + (1/2) * λ * Σ(wⱼ²)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6096100" y="1891450"/>
            <a:ext cx="5655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ŷᵢ^(t) → prediction for sample i at iteration t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fₜ(xᵢ) → new tree (weak learner) output at iteration t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η → learning rate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l → loss function (e.g., MSE for regression)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Ω(fₜ) → regularization term for tree complexity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T → number of leaves in the tree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wⱼ → weight of leaf j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γ, λ → regularization hyperparameters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>
            <p:ph idx="12" type="sldNum"/>
          </p:nvPr>
        </p:nvSpPr>
        <p:spPr>
          <a:xfrm>
            <a:off x="164892" y="6460403"/>
            <a:ext cx="6208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7"/>
          <p:cNvSpPr txBox="1"/>
          <p:nvPr/>
        </p:nvSpPr>
        <p:spPr>
          <a:xfrm>
            <a:off x="164892" y="175272"/>
            <a:ext cx="406874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Features and Labels</a:t>
            </a:r>
            <a:endParaRPr/>
          </a:p>
        </p:txBody>
      </p:sp>
      <p:graphicFrame>
        <p:nvGraphicFramePr>
          <p:cNvPr id="191" name="Google Shape;191;p7"/>
          <p:cNvGraphicFramePr/>
          <p:nvPr/>
        </p:nvGraphicFramePr>
        <p:xfrm>
          <a:off x="268175" y="1000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{7E2C2570-8CCF-4C62-96BC-EA9885BF2789}</a:tableStyleId>
              </a:tblPr>
              <a:tblGrid>
                <a:gridCol w="3332625"/>
                <a:gridCol w="2991000"/>
                <a:gridCol w="5443075"/>
              </a:tblGrid>
              <a:tr h="47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Label</a:t>
                      </a:r>
                      <a:endParaRPr b="1" sz="200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Physical Domain</a:t>
                      </a:r>
                      <a:endParaRPr b="1" sz="200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Features</a:t>
                      </a:r>
                      <a:endParaRPr b="1" sz="200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Bandgap (optb88vdw_bandgap)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Electronic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is_orthogonal, mp_ratio, avg_valence, structural_density, atoms_per_cell, mass_diff, mp_diff, lattice_a, lattice_b, en_diff, r_sum_over_mass_sum, alpha, avg_lattice_constant, lattice_c, unit_cell_volume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Bulk Modulus (</a:t>
                      </a: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bulk_modulus_kv</a:t>
                      </a: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Mechanical / Elastic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Structural: a, b, c, alpha, beta, gamma, min_dist, max_dist, avg_dist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Compositional: Z_mean, mass_mean, en_diff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Formation Energy (</a:t>
                      </a: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formation_energy_peratom</a:t>
                      </a: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Thermodynamic / Stability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mass_sum, structural_density, avg_valence, avg_molar_volume, lattice_b, Z_diff, avg_melting_point, polarizability_est, spg_number, Z_sum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47e1045d4_0_21"/>
          <p:cNvSpPr txBox="1"/>
          <p:nvPr>
            <p:ph idx="12" type="sldNum"/>
          </p:nvPr>
        </p:nvSpPr>
        <p:spPr>
          <a:xfrm>
            <a:off x="164892" y="6460403"/>
            <a:ext cx="62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g3a47e1045d4_0_21"/>
          <p:cNvSpPr txBox="1"/>
          <p:nvPr/>
        </p:nvSpPr>
        <p:spPr>
          <a:xfrm>
            <a:off x="164906" y="175275"/>
            <a:ext cx="70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Formulas for the calculation of predicting properties </a:t>
            </a:r>
            <a:endParaRPr/>
          </a:p>
        </p:txBody>
      </p:sp>
      <p:graphicFrame>
        <p:nvGraphicFramePr>
          <p:cNvPr id="199" name="Google Shape;199;g3a47e1045d4_0_21"/>
          <p:cNvGraphicFramePr/>
          <p:nvPr/>
        </p:nvGraphicFramePr>
        <p:xfrm>
          <a:off x="268175" y="1000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{7E2C2570-8CCF-4C62-96BC-EA9885BF2789}</a:tableStyleId>
              </a:tblPr>
              <a:tblGrid>
                <a:gridCol w="2221550"/>
                <a:gridCol w="4855575"/>
                <a:gridCol w="4689575"/>
              </a:tblGrid>
              <a:tr h="47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</a:t>
                      </a:r>
                      <a:endParaRPr b="1" sz="200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</a:t>
                      </a:r>
                      <a:endParaRPr b="1" sz="200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Parameters</a:t>
                      </a:r>
                      <a:endParaRPr b="1" sz="200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Bandgap 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Bandgap (E₉): E₉ = E_C − E_V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 = energy at conduction band minimum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 = energy at valence band maximum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Bulk Modulus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Bulk Modulus (B): B = −V * (dP/dV)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Alternative (from energy–volume curve):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= V * (d²E/dV²)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 = volume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 = pressure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 = total energy of the material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Formation Energy 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Formation Energy (E_f):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E_f = [E_total(AₓBᵧ) − x*μ_A − y*μ_B] / (x + y)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E_total(AxBy) = total DFT energy of compound AxBy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μA = chemical potential of element A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μB = chemical potential of element B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= number of atoms of A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 = number of atoms of B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 txBox="1"/>
          <p:nvPr>
            <p:ph idx="12" type="sldNum"/>
          </p:nvPr>
        </p:nvSpPr>
        <p:spPr>
          <a:xfrm>
            <a:off x="164892" y="6460403"/>
            <a:ext cx="6208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11"/>
          <p:cNvSpPr txBox="1"/>
          <p:nvPr/>
        </p:nvSpPr>
        <p:spPr>
          <a:xfrm>
            <a:off x="253300" y="32472"/>
            <a:ext cx="2826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Loss Function</a:t>
            </a:r>
            <a:endParaRPr/>
          </a:p>
        </p:txBody>
      </p:sp>
      <p:sp>
        <p:nvSpPr>
          <p:cNvPr id="206" name="Google Shape;206;p11"/>
          <p:cNvSpPr txBox="1"/>
          <p:nvPr/>
        </p:nvSpPr>
        <p:spPr>
          <a:xfrm>
            <a:off x="393775" y="1008875"/>
            <a:ext cx="618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Training Loss Function: </a:t>
            </a: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Mean Squared Error (MSE)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393775" y="31827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Why MSE?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393775" y="3546613"/>
            <a:ext cx="1095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Penalizes larger errors more heavily due to squaring.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Encourages predictions to be close to true values on average.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Smooth gradient for optimization → better convergence in tree-based models.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393775" y="4663538"/>
            <a:ext cx="464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393775" y="5097575"/>
            <a:ext cx="7833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R² (Coefficient of Determination): R² = 1 – [ Σ (yᵢ – ŷᵢ)² / Σ (yᵢ – ȳ)² ]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Absolute Error (MAE): MAE = (1/n) × Σ |yᵢ – ŷᵢ|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Root Mean Squared Error (RMSE): RMSE = √[ (1/n) × Σ (yᵢ – ŷᵢ)² ]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485275" y="1501475"/>
            <a:ext cx="8661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Squared Error (MSE): MSE = (1/n) × Σ (yᵢ – ŷᵢ)²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total number of data points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yᵢ = actual (true) value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ŷᵢ = predicted value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 txBox="1"/>
          <p:nvPr/>
        </p:nvSpPr>
        <p:spPr>
          <a:xfrm>
            <a:off x="-11077" y="11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Pipeline for Predicting Target Properties</a:t>
            </a: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17" name="Google Shape;217;p12"/>
          <p:cNvSpPr txBox="1"/>
          <p:nvPr/>
        </p:nvSpPr>
        <p:spPr>
          <a:xfrm>
            <a:off x="11828460" y="6447367"/>
            <a:ext cx="3365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69145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800">
              <a:solidFill>
                <a:srgbClr val="6914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2"/>
          <p:cNvCxnSpPr/>
          <p:nvPr/>
        </p:nvCxnSpPr>
        <p:spPr>
          <a:xfrm>
            <a:off x="-11077" y="6409475"/>
            <a:ext cx="12203077" cy="0"/>
          </a:xfrm>
          <a:prstGeom prst="straightConnector1">
            <a:avLst/>
          </a:prstGeom>
          <a:noFill/>
          <a:ln cap="flat" cmpd="sng" w="38100">
            <a:solidFill>
              <a:srgbClr val="69145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9" name="Google Shape;219;p12"/>
          <p:cNvPicPr preferRelativeResize="0"/>
          <p:nvPr/>
        </p:nvPicPr>
        <p:blipFill rotWithShape="1">
          <a:blip r:embed="rId3">
            <a:alphaModFix/>
          </a:blip>
          <a:srcRect b="0" l="0" r="0" t="3297"/>
          <a:stretch/>
        </p:blipFill>
        <p:spPr>
          <a:xfrm>
            <a:off x="996250" y="531275"/>
            <a:ext cx="10177352" cy="579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 txBox="1"/>
          <p:nvPr/>
        </p:nvSpPr>
        <p:spPr>
          <a:xfrm>
            <a:off x="-32787" y="110824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Parity Plots &amp; </a:t>
            </a: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11573691" y="6447367"/>
            <a:ext cx="591319" cy="410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69145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800">
              <a:solidFill>
                <a:srgbClr val="6914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3"/>
          <p:cNvCxnSpPr/>
          <p:nvPr/>
        </p:nvCxnSpPr>
        <p:spPr>
          <a:xfrm>
            <a:off x="-11077" y="6409475"/>
            <a:ext cx="12203077" cy="0"/>
          </a:xfrm>
          <a:prstGeom prst="straightConnector1">
            <a:avLst/>
          </a:prstGeom>
          <a:noFill/>
          <a:ln cap="flat" cmpd="sng" w="38100">
            <a:solidFill>
              <a:srgbClr val="6914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13"/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75" y="776750"/>
            <a:ext cx="3704826" cy="370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0525" y="957125"/>
            <a:ext cx="4023301" cy="33949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" name="Google Shape;231;p13"/>
          <p:cNvGraphicFramePr/>
          <p:nvPr/>
        </p:nvGraphicFramePr>
        <p:xfrm>
          <a:off x="324881" y="4717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{51A7992D-D234-410E-9815-D055F7D68F2F}</a:tableStyleId>
              </a:tblPr>
              <a:tblGrid>
                <a:gridCol w="3590575"/>
                <a:gridCol w="1711900"/>
                <a:gridCol w="1769075"/>
                <a:gridCol w="2018375"/>
                <a:gridCol w="2158925"/>
              </a:tblGrid>
              <a:tr h="450200"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 </a:t>
                      </a:r>
                      <a:endParaRPr b="1"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/>
                        <a:t>Train R2</a:t>
                      </a:r>
                      <a:endParaRPr b="1"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/>
                        <a:t>Test R2</a:t>
                      </a:r>
                      <a:endParaRPr b="1"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/>
                        <a:t>MAE</a:t>
                      </a:r>
                      <a:endParaRPr b="1"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RMSE</a:t>
                      </a:r>
                      <a:endParaRPr b="1" sz="2000"/>
                    </a:p>
                  </a:txBody>
                  <a:tcPr marT="0" marB="0" marR="44450" marL="44450" anchor="ctr"/>
                </a:tc>
              </a:tr>
              <a:tr h="26675"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/>
                        <a:t>Bandgap (eV)</a:t>
                      </a:r>
                      <a:endParaRPr b="1"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0.994</a:t>
                      </a:r>
                      <a:endParaRPr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0.949</a:t>
                      </a:r>
                      <a:endParaRPr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0.2689</a:t>
                      </a:r>
                      <a:endParaRPr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0.4362</a:t>
                      </a:r>
                      <a:endParaRPr sz="2000"/>
                    </a:p>
                  </a:txBody>
                  <a:tcPr marT="0" marB="0" marR="44450" marL="44450" anchor="ctr"/>
                </a:tc>
              </a:tr>
              <a:tr h="36200"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/>
                        <a:t>Bulk Modulus (GPa)</a:t>
                      </a:r>
                      <a:endParaRPr b="1"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0.999</a:t>
                      </a:r>
                      <a:endParaRPr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0.946</a:t>
                      </a:r>
                      <a:endParaRPr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16.971</a:t>
                      </a:r>
                      <a:endParaRPr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26.446</a:t>
                      </a:r>
                      <a:endParaRPr sz="2000"/>
                    </a:p>
                  </a:txBody>
                  <a:tcPr marT="0" marB="0" marR="44450" marL="44450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/>
                        <a:t>Formation Energy (eV/atom)</a:t>
                      </a:r>
                      <a:endParaRPr b="1"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0.996</a:t>
                      </a:r>
                      <a:endParaRPr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0.736</a:t>
                      </a:r>
                      <a:endParaRPr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0.153</a:t>
                      </a:r>
                      <a:endParaRPr sz="2000" u="none" cap="none" strike="noStrike"/>
                    </a:p>
                  </a:txBody>
                  <a:tcPr marT="0" marB="0" marR="44450" marL="44450" anchor="ctr"/>
                </a:tc>
                <a:tc>
                  <a:txBody>
                    <a:bodyPr/>
                    <a:lstStyle/>
                    <a:p>
                      <a:pPr indent="0" lvl="0" marL="18034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0.334</a:t>
                      </a:r>
                      <a:endParaRPr sz="2000"/>
                    </a:p>
                  </a:txBody>
                  <a:tcPr marT="0" marB="0" marR="44450" marL="44450" anchor="ctr"/>
                </a:tc>
              </a:tr>
            </a:tbl>
          </a:graphicData>
        </a:graphic>
      </p:graphicFrame>
      <p:pic>
        <p:nvPicPr>
          <p:cNvPr id="232" name="Google Shape;23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8050" y="854225"/>
            <a:ext cx="3802475" cy="354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/>
          <p:nvPr/>
        </p:nvSpPr>
        <p:spPr>
          <a:xfrm>
            <a:off x="0" y="116927"/>
            <a:ext cx="121920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11524892" y="6447368"/>
            <a:ext cx="471844" cy="343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69145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800">
              <a:solidFill>
                <a:srgbClr val="6914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17"/>
          <p:cNvCxnSpPr/>
          <p:nvPr/>
        </p:nvCxnSpPr>
        <p:spPr>
          <a:xfrm>
            <a:off x="-11077" y="6409475"/>
            <a:ext cx="12203077" cy="0"/>
          </a:xfrm>
          <a:prstGeom prst="straightConnector1">
            <a:avLst/>
          </a:prstGeom>
          <a:noFill/>
          <a:ln cap="flat" cmpd="sng" w="38100">
            <a:solidFill>
              <a:srgbClr val="6914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1" name="Google Shape;241;p17"/>
          <p:cNvSpPr txBox="1"/>
          <p:nvPr/>
        </p:nvSpPr>
        <p:spPr>
          <a:xfrm>
            <a:off x="0" y="739594"/>
            <a:ext cx="11830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overcome the high computational cost and time required by DFT for screening new IIIA–VA materials, a machine-learning-based predictive framework using XGBoost has been developed.</a:t>
            </a:r>
            <a:endParaRPr/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constructed ML models to estimate Band Gap, Formation Energy, and Bulk Modulus using reliable JARVIS-DFT data and carefully engineered structural and compositional features.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predicted results show strong agreement with DFT-reported values, demonstrating that the proposed ML approach can efficiently capture key material property trends while drastically reducing computation time.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framework provides a promising pathway for rapid materials discovery and optimization in semiconductor applications, enabling large-scale screening of unexplored III–V compounds.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2023-04-12T16:28:37Z</dcterms:created>
  <dc:creator>Dr. Vijay Choyal</dc:creator>
</cp:coreProperties>
</file>